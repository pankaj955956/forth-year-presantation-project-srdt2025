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99" r:id="rId7"/>
    <p:sldId id="300" r:id="rId8"/>
    <p:sldId id="301" r:id="rId9"/>
    <p:sldId id="296" r:id="rId10"/>
    <p:sldId id="302" r:id="rId11"/>
    <p:sldId id="303" r:id="rId12"/>
    <p:sldId id="310" r:id="rId13"/>
    <p:sldId id="304" r:id="rId14"/>
    <p:sldId id="305" r:id="rId15"/>
    <p:sldId id="306" r:id="rId16"/>
    <p:sldId id="307" r:id="rId17"/>
    <p:sldId id="308" r:id="rId18"/>
    <p:sldId id="309" r:id="rId19"/>
    <p:sldId id="311" r:id="rId20"/>
    <p:sldId id="312" r:id="rId21"/>
    <p:sldId id="313" r:id="rId22"/>
    <p:sldId id="314" r:id="rId23"/>
    <p:sldId id="31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646" autoAdjust="0"/>
  </p:normalViewPr>
  <p:slideViewPr>
    <p:cSldViewPr snapToGrid="0">
      <p:cViewPr varScale="1">
        <p:scale>
          <a:sx n="74" d="100"/>
          <a:sy n="74" d="100"/>
        </p:scale>
        <p:origin x="1032" y="48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7/3/2025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7/3/2025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DBF434-6244-ECFB-016E-0F2989ACB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48" y="77031"/>
            <a:ext cx="2278992" cy="1832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FABCA7-0D2A-3560-AE0C-4246605A9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967" y="174275"/>
            <a:ext cx="3561551" cy="14354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3B9B9D-C108-0EDA-6F12-720A929713BF}"/>
              </a:ext>
            </a:extLst>
          </p:cNvPr>
          <p:cNvSpPr txBox="1"/>
          <p:nvPr/>
        </p:nvSpPr>
        <p:spPr>
          <a:xfrm>
            <a:off x="250348" y="2617694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ONLINE DATA ANALYSIS REPORT OF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372122-BBF4-7B63-E5CD-7B31870ABC4A}"/>
              </a:ext>
            </a:extLst>
          </p:cNvPr>
          <p:cNvSpPr txBox="1"/>
          <p:nvPr/>
        </p:nvSpPr>
        <p:spPr>
          <a:xfrm>
            <a:off x="2529339" y="4118789"/>
            <a:ext cx="383560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 :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PANKAJ KUMAR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AMAN MISHRA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VARUN PRAJAPATI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GEETANSHU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ABHINAV MISHRA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SNEHIL AGARWAL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AA1411-3EAF-94B4-EAB9-6BC32FA0E447}"/>
              </a:ext>
            </a:extLst>
          </p:cNvPr>
          <p:cNvSpPr txBox="1"/>
          <p:nvPr/>
        </p:nvSpPr>
        <p:spPr>
          <a:xfrm>
            <a:off x="699249" y="968188"/>
            <a:ext cx="5629834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 and Objectives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SQL  Operation and Queries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3.Establishing SQL database connection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4.Inroduction to data analysis in depth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5.Jupyter Notebook Exploration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6.Power BI development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Key Visualization and Interpretation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8.Actionable Insights and Recommendation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9.Conclusion an Next Steps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00685B-9B36-8E73-AE61-8FD08A0C6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92"/>
            <a:ext cx="12192000" cy="673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4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4B96E8-796A-F431-6A1A-079CCB7ED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29" y="0"/>
            <a:ext cx="9072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73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C7B792-C97E-218A-C950-4152F15C8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453"/>
            <a:ext cx="12192000" cy="625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1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707868-6FEA-2F8E-763E-3B0A4142F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22E2B1-1543-D6AA-68D7-157FE7BFE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23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79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ACA68D-57D2-6EBD-70BD-19247BAB7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94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23321C-36D4-D352-9A00-D72F154A3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692" y="0"/>
            <a:ext cx="12599165" cy="675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51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66D0B3-3324-BA69-C829-F6D361CA4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2"/>
            <a:ext cx="12192000" cy="685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7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DCD4-D61B-D0DE-F2E6-A90C7F9FA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51D1F-5B46-C7D1-B96B-E9590244D5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BFA73-E3F1-874D-7DF6-FCC4835C2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909" y="6098"/>
            <a:ext cx="12295909" cy="701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24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FE2E-98EA-9645-9B19-DB81EE9E99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BAC57-C5B3-51E3-1DE7-954F5D91F7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0129D-DF3E-676C-3AE3-947A7D7A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2"/>
            <a:ext cx="12192000" cy="685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74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2E0F5B-F352-71D7-82D3-87E39DD2C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343" y="0"/>
            <a:ext cx="5899657" cy="3274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604107-D0F1-E51C-55DC-A5B8580F3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221" y="0"/>
            <a:ext cx="6400564" cy="3274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5144D6-4C65-EF14-B73E-7D108A4C4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74706"/>
            <a:ext cx="6096000" cy="35832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362E44-D13D-2BB0-D4B7-5B23E096F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03" y="3428999"/>
            <a:ext cx="5060373" cy="32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0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E2F981-953B-CDF8-8308-2431F4D25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79669" cy="3138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BB717-99A1-DCE2-D74A-ED03E83B1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669" y="0"/>
            <a:ext cx="6005613" cy="3182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70DED2-D0BF-CAE7-5D2E-D544AA003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840" y="3138055"/>
            <a:ext cx="5928442" cy="38218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D14999-56DD-AD78-65B7-88517D10E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82526"/>
            <a:ext cx="6445419" cy="360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9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DD3651-B9E3-308A-A1DF-A249C0F6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317" y="3719946"/>
            <a:ext cx="5853683" cy="3054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893BD5-31F9-90A6-FF9B-F0C8E24D6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97" y="3054927"/>
            <a:ext cx="6048020" cy="3851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F3AA4B-2D17-4C3D-859B-7346DF67F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451" y="0"/>
            <a:ext cx="5543176" cy="35784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D4E3EE-3A3F-D81E-A31D-8B1CA9D0C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421582" cy="313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66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ACAE64-BE6D-B9B7-FD0C-3C0829C9C5DB}"/>
              </a:ext>
            </a:extLst>
          </p:cNvPr>
          <p:cNvSpPr txBox="1"/>
          <p:nvPr/>
        </p:nvSpPr>
        <p:spPr>
          <a:xfrm>
            <a:off x="0" y="519545"/>
            <a:ext cx="9538855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highlight>
                  <a:srgbClr val="FFFF00"/>
                </a:highlight>
              </a:rPr>
              <a:t>🔑 Key Insights</a:t>
            </a:r>
          </a:p>
          <a:p>
            <a:r>
              <a:rPr lang="en-US" sz="2400" dirty="0"/>
              <a:t>✅ </a:t>
            </a:r>
            <a:r>
              <a:rPr lang="en-US" sz="2400" b="1" dirty="0"/>
              <a:t>Category Imbalance</a:t>
            </a:r>
            <a:endParaRPr lang="en-US" sz="2400" dirty="0"/>
          </a:p>
          <a:p>
            <a:r>
              <a:rPr lang="en-US" sz="2400" dirty="0"/>
              <a:t>Significant imbalance observed among categories, which may bias model predictions or skew aggregated metrics.</a:t>
            </a:r>
          </a:p>
          <a:p>
            <a:r>
              <a:rPr lang="en-US" sz="2400" dirty="0"/>
              <a:t>✅ </a:t>
            </a:r>
            <a:r>
              <a:rPr lang="en-US" sz="2400" b="1" dirty="0"/>
              <a:t>Correlation &amp; Redundancy</a:t>
            </a:r>
            <a:endParaRPr lang="en-US" sz="2400" dirty="0"/>
          </a:p>
          <a:p>
            <a:r>
              <a:rPr lang="en-US" sz="2400" dirty="0"/>
              <a:t>Correlation analysis revealed some variables with high interdependence, suggesting potential redundancy that could be optimized through feature selection or dimensionality reduction.</a:t>
            </a:r>
          </a:p>
          <a:p>
            <a:r>
              <a:rPr lang="en-US" sz="2400" dirty="0"/>
              <a:t>✅ </a:t>
            </a:r>
            <a:r>
              <a:rPr lang="en-US" sz="2400" b="1" dirty="0"/>
              <a:t>Outliers in Numeric Features</a:t>
            </a:r>
            <a:endParaRPr lang="en-US" sz="2400" dirty="0"/>
          </a:p>
          <a:p>
            <a:r>
              <a:rPr lang="en-US" sz="2400" dirty="0"/>
              <a:t>Distribution plots highlighted outliers significantly impacting means and standard deviations; these should be handled (e.g., with </a:t>
            </a:r>
            <a:r>
              <a:rPr lang="en-US" sz="2400" dirty="0" err="1"/>
              <a:t>winsorization</a:t>
            </a:r>
            <a:r>
              <a:rPr lang="en-US" sz="2400" dirty="0"/>
              <a:t> or robust statistics) to avoid misleading insights.</a:t>
            </a:r>
          </a:p>
          <a:p>
            <a:r>
              <a:rPr lang="en-US" sz="2400" dirty="0"/>
              <a:t>✅ </a:t>
            </a:r>
            <a:r>
              <a:rPr lang="en-US" sz="2400" b="1" dirty="0"/>
              <a:t>Seasonal &amp; Cyclical Patterns</a:t>
            </a:r>
            <a:endParaRPr lang="en-US" sz="2400" dirty="0"/>
          </a:p>
          <a:p>
            <a:r>
              <a:rPr lang="en-US" sz="2400" dirty="0"/>
              <a:t>Time-based data exhibited patterns suggesting seasonality or periodic trends, offering opportunities for forecasting and strategic planning.</a:t>
            </a:r>
          </a:p>
          <a:p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591473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34A5AF-3111-85A6-54CE-1A5AD5D2A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5594" y="-1"/>
            <a:ext cx="1248759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98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884354-82E9-FCF6-4161-57EF4E35B354}"/>
              </a:ext>
            </a:extLst>
          </p:cNvPr>
          <p:cNvSpPr txBox="1"/>
          <p:nvPr/>
        </p:nvSpPr>
        <p:spPr>
          <a:xfrm>
            <a:off x="531668" y="323401"/>
            <a:ext cx="1027487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FOR SALES</a:t>
            </a:r>
          </a:p>
          <a:p>
            <a:pPr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Top Categories</a:t>
            </a:r>
          </a:p>
          <a:p>
            <a:pPr>
              <a:buNone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marketing and sales efforts towards categories with the highest engagement or revenue potential to maximize ROI.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Underrepresented Areas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and mitigate data gaps or low-representation categories to improve overall data quality and coverage.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Interactive Dashboards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dynamic dashboards to continuously monitor key performance indicators, enabling timely decision-making and actionable insights.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for Data Updates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a routine process for data refresh and ongoing analysis to keep insights current and maintain strategic relevance.</a:t>
            </a:r>
          </a:p>
        </p:txBody>
      </p:sp>
    </p:spTree>
    <p:extLst>
      <p:ext uri="{BB962C8B-B14F-4D97-AF65-F5344CB8AC3E}">
        <p14:creationId xmlns:p14="http://schemas.microsoft.com/office/powerpoint/2010/main" val="1837065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892D60-95D2-AE48-A76C-7C260E617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69" y="0"/>
            <a:ext cx="11921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87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7E489B-CADB-958E-0DE5-2A987F791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0720" y="2096130"/>
            <a:ext cx="5638552" cy="1073097"/>
          </a:xfrm>
        </p:spPr>
        <p:txBody>
          <a:bodyPr>
            <a:noAutofit/>
          </a:bodyPr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657880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134</TotalTime>
  <Words>275</Words>
  <Application>Microsoft Office PowerPoint</Application>
  <PresentationFormat>Widescreen</PresentationFormat>
  <Paragraphs>46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Tenorite</vt:lpstr>
      <vt:lpstr>Times New Roman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MISHRA</dc:creator>
  <cp:lastModifiedBy>PANKAJ KUMAR</cp:lastModifiedBy>
  <cp:revision>5</cp:revision>
  <dcterms:created xsi:type="dcterms:W3CDTF">2025-07-03T04:50:46Z</dcterms:created>
  <dcterms:modified xsi:type="dcterms:W3CDTF">2025-07-03T07:11:31Z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